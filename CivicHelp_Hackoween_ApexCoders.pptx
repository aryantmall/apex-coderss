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80760" y="2798064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Segoe UI"/>
              </a:defRPr>
            </a:pPr>
            <a:r>
              <a:t>CivicHelp — Autonomous Incident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80760" y="3438144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Apex Coders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4078224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14B8A6"/>
                </a:solidFill>
                <a:latin typeface="Segoe UI"/>
              </a:defRPr>
            </a:pPr>
            <a:r>
              <a:t>Aryan Mall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4718304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Sushant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5358384"/>
            <a:ext cx="57607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3B82F6"/>
                </a:solidFill>
                <a:latin typeface="Segoe UI"/>
              </a:defRPr>
            </a:pPr>
            <a:r>
              <a:t>Aditya, Bhavy Nanda, Ashish Kumar, Aryan Mall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777240"/>
            <a:ext cx="1188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41826"/>
                </a:solidFill>
                <a:latin typeface="Impact"/>
              </a:defRPr>
            </a:pPr>
            <a:r>
              <a:t>APEX</a:t>
            </a:r>
          </a:p>
          <a:p>
            <a:pPr algn="ctr">
              <a:defRPr sz="1100" b="1">
                <a:solidFill>
                  <a:srgbClr val="141826"/>
                </a:solidFill>
                <a:latin typeface="Impact"/>
              </a:defRPr>
            </a:pPr>
            <a:r>
              <a:t>CODERS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45920" y="1691640"/>
            <a:ext cx="7772400" cy="822960"/>
          </a:xfrm>
          <a:prstGeom prst="roundRect">
            <a:avLst/>
          </a:prstGeom>
          <a:solidFill>
            <a:srgbClr val="182036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78308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CORE PROBLEM STATEMENT:</a:t>
            </a:r>
          </a:p>
          <a:p>
            <a:pPr>
              <a:defRPr sz="1200">
                <a:solidFill>
                  <a:srgbClr val="FFFFFF"/>
                </a:solidFill>
                <a:latin typeface="Segoe UI"/>
              </a:defRPr>
            </a:pPr>
            <a:r>
              <a:t>Citizen civic reports vanish into unverified black holes: 78% of closures lack evidence, SLA tracking is opaque, and repetitive issues erode public trust.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2697480"/>
            <a:ext cx="7772400" cy="164592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788920"/>
            <a:ext cx="7406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Segoe UI"/>
              </a:defRPr>
            </a:pPr>
            <a:r>
              <a:t>PARADIGM SHIFT: BROKEN STATUS QUO  ➔  CIVICHELP AUTONOMOUS RESOLUTION</a:t>
            </a:r>
          </a:p>
          <a:p>
            <a:pPr>
              <a:defRPr sz="1100">
                <a:solidFill>
                  <a:srgbClr val="EF4444"/>
                </a:solidFill>
              </a:defRPr>
            </a:pPr>
            <a:r>
              <a:t>• Broken Legacy: Citizen Report  ──▶  Manual Routing  ──▶  Fake Photo / Premature Closure  ──▶  Citizen Frustration</a:t>
            </a:r>
          </a:p>
          <a:p>
            <a:pPr>
              <a:defRPr sz="1100" b="1">
                <a:solidFill>
                  <a:srgbClr val="14B8A6"/>
                </a:solidFill>
              </a:defRPr>
            </a:pPr>
            <a:r>
              <a:t>• CivicHelp Mesh: Dual-Mode Intake (GPS/Unconfirmed)  ──▶  Gemini AI Triage  ──▶  Strict SLA Timer  ──▶  SHA-256 Photo QA (Auto-Reopens on failure)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4526280"/>
            <a:ext cx="2423160" cy="164592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4617720"/>
            <a:ext cx="2148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F4444"/>
                </a:solidFill>
                <a:latin typeface="Segoe UI"/>
              </a:defRPr>
            </a:pPr>
            <a:r>
              <a:t>Evidence Deficit</a:t>
            </a:r>
          </a:p>
          <a:p>
            <a:pPr>
              <a:defRPr sz="1050">
                <a:solidFill>
                  <a:srgbClr val="B4BED2"/>
                </a:solidFill>
                <a:latin typeface="Segoe UI"/>
              </a:defRPr>
            </a:pPr>
            <a:r>
              <a:t>Zero geofence checks allow contractors to falsely mark jobs resolved without physical repairs.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4526280"/>
            <a:ext cx="2423160" cy="164592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4617720"/>
            <a:ext cx="2148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Siloed Departments</a:t>
            </a:r>
          </a:p>
          <a:p>
            <a:pPr>
              <a:defRPr sz="1050">
                <a:solidFill>
                  <a:srgbClr val="B4BED2"/>
                </a:solidFill>
                <a:latin typeface="Segoe UI"/>
              </a:defRPr>
            </a:pPr>
            <a:r>
              <a:t>Roads, Drainage, and Lighting operate in silos with no cross-department escalation mesh.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86016" y="4526280"/>
            <a:ext cx="2423160" cy="164592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23176" y="4617720"/>
            <a:ext cx="2148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B82F6"/>
                </a:solidFill>
                <a:latin typeface="Segoe UI"/>
              </a:defRPr>
            </a:pPr>
            <a:r>
              <a:t>Fiscal Blindspots</a:t>
            </a:r>
          </a:p>
          <a:p>
            <a:pPr>
              <a:defRPr sz="1050">
                <a:solidFill>
                  <a:srgbClr val="B4BED2"/>
                </a:solidFill>
                <a:latin typeface="Segoe UI"/>
              </a:defRPr>
            </a:pPr>
            <a:r>
              <a:t>Citizens lack visibility into municipal ward funds, work orders, and contractor scorecards.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777240"/>
            <a:ext cx="1188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41826"/>
                </a:solidFill>
                <a:latin typeface="Impact"/>
              </a:defRPr>
            </a:pPr>
            <a:r>
              <a:t>APEX</a:t>
            </a:r>
          </a:p>
          <a:p>
            <a:pPr algn="ctr">
              <a:defRPr sz="1100" b="1">
                <a:solidFill>
                  <a:srgbClr val="141826"/>
                </a:solidFill>
                <a:latin typeface="Impact"/>
              </a:defRPr>
            </a:pPr>
            <a:r>
              <a:t>CODERS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54480" y="1783080"/>
            <a:ext cx="2880360" cy="429768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719072" y="1920240"/>
            <a:ext cx="25511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  <a:latin typeface="Segoe UI"/>
              </a:defRPr>
            </a:pPr>
            <a:r>
              <a:t>TIER 1: FRONTEND &amp; SPATIAL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9072" y="2514600"/>
            <a:ext cx="25511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Framework: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   React 18 + TypeScript + Vite 5 + Tailwind CSS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Map Engine: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   Leaflet + Leaflet MarkerCluster (Color-blind accessible palette)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Cinematic 3D: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   Three.js procedural night city rendering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UI &amp; Audio: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   Lucide Icons + Web Speech API (Bilingual EN/HI speech)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783080"/>
            <a:ext cx="2880360" cy="429768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36592" y="1920240"/>
            <a:ext cx="25511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Segoe UI"/>
              </a:defRPr>
            </a:pPr>
            <a:r>
              <a:t>TIER 2: BACKEND &amp; SECURITY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2514600"/>
            <a:ext cx="25511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Core Framework: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   FastAPI (Python 3.14) + Uvicorn ASGI Server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Database &amp; ORM: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   SQLAlchemy ORM + SQLite/PostgreSQL (450 demo records)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Security &amp; RBAC: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   PBKDF2-HMAC-SHA256 Hashing + PyJWT 6-Role Authorization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Audit Chain: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   Tamper-evident SHA-256 cryptographic audit 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19" y="1783080"/>
            <a:ext cx="2880360" cy="429768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54111" y="1920240"/>
            <a:ext cx="25511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TIER 3: AI INTELLIGENCE &amp; ROUTING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4111" y="2514600"/>
            <a:ext cx="25511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LLM Copilot: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   Google Gemini AI (gemini-3.8-flash) with candidate fallbacks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Road Dispatch: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   OSRM Open Source Routing Engine (Real live driving ETAs)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PDF Generator: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   ReportLab for cryptographic municipal summary reports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Automated QA: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   69 / 69 passing Pytest automated test baseline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777240"/>
            <a:ext cx="1188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41826"/>
                </a:solidFill>
                <a:latin typeface="Impact"/>
              </a:defRPr>
            </a:pPr>
            <a:r>
              <a:t>APEX</a:t>
            </a:r>
          </a:p>
          <a:p>
            <a:pPr algn="ctr">
              <a:defRPr sz="1100" b="1">
                <a:solidFill>
                  <a:srgbClr val="141826"/>
                </a:solidFill>
                <a:latin typeface="Impact"/>
              </a:defRPr>
            </a:pPr>
            <a:r>
              <a:t>CODERS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1783080"/>
            <a:ext cx="4023360" cy="438912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0" y="192024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B82F6"/>
                </a:solidFill>
                <a:latin typeface="Segoe UI"/>
              </a:defRPr>
            </a:pPr>
            <a:r>
              <a:t>OPERATIONAL FEASIBILITY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✔ Zero Hardware Barrier</a:t>
            </a:r>
          </a:p>
          <a:p>
            <a:pPr>
              <a:defRPr sz="1000">
                <a:solidFill>
                  <a:srgbClr val="B4BED2"/>
                </a:solidFill>
              </a:defRPr>
            </a:pPr>
            <a:r>
              <a:t>   100% web-based SPA. Works on any smartphone or tablet without installing native apps.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✔ Dual-Mode Citizen Intake</a:t>
            </a:r>
          </a:p>
          <a:p>
            <a:pPr>
              <a:defRPr sz="1000">
                <a:solidFill>
                  <a:srgbClr val="B4BED2"/>
                </a:solidFill>
              </a:defRPr>
            </a:pPr>
            <a:r>
              <a:t>   Supports precise GPS lock + Unconfirmed locality reporting without spoofing fake GPS.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✔ Turnkey Government Integration</a:t>
            </a:r>
          </a:p>
          <a:p>
            <a:pPr>
              <a:defRPr sz="1000">
                <a:solidFill>
                  <a:srgbClr val="B4BED2"/>
                </a:solidFill>
              </a:defRPr>
            </a:pPr>
            <a:r>
              <a:t>   Pre-configured 6-role RBAC (Admin, Reviewer, PWD Operator, Auditor, Field Crew, Finance).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✔ Dual Deployment Architecture</a:t>
            </a:r>
          </a:p>
          <a:p>
            <a:pPr>
              <a:defRPr sz="1000">
                <a:solidFill>
                  <a:srgbClr val="B4BED2"/>
                </a:solidFill>
              </a:defRPr>
            </a:pPr>
            <a:r>
              <a:t>   Runs live on Vercel (Frontend) + Render (Backend) with full offline fallback mesh.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✔ Field-Tested Reliability</a:t>
            </a:r>
          </a:p>
          <a:p>
            <a:pPr>
              <a:defRPr sz="1000">
                <a:solidFill>
                  <a:srgbClr val="B4BED2"/>
                </a:solidFill>
              </a:defRPr>
            </a:pPr>
            <a:r>
              <a:t>   69 end-to-end automated test suites verifying SLAs, audit chains, and auto-reopening.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783080"/>
            <a:ext cx="4023360" cy="438912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4B8A6"/>
                </a:solidFill>
                <a:latin typeface="Segoe UI"/>
              </a:defRPr>
            </a:pPr>
            <a:r>
              <a:t>MEASURABLE CIVIC IMPACT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★ 100% Cryptographic Proof</a:t>
            </a:r>
          </a:p>
          <a:p>
            <a:pPr>
              <a:defRPr sz="1000">
                <a:solidFill>
                  <a:srgbClr val="B4BED2"/>
                </a:solidFill>
              </a:defRPr>
            </a:pPr>
            <a:r>
              <a:t>   Every resolved incident requires verifiable geofence photo evidence; prevents false closures.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★ 60% Faster Emergency Response</a:t>
            </a:r>
          </a:p>
          <a:p>
            <a:pPr>
              <a:defRPr sz="1000">
                <a:solidFill>
                  <a:srgbClr val="B4BED2"/>
                </a:solidFill>
              </a:defRPr>
            </a:pPr>
            <a:r>
              <a:t>   Live road distance and ETA calculation using OSRM to nearest 112 police, fire, &amp; trauma centers.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★ Autonomous Failure Recovery</a:t>
            </a:r>
          </a:p>
          <a:p>
            <a:pPr>
              <a:defRPr sz="1000">
                <a:solidFill>
                  <a:srgbClr val="B4BED2"/>
                </a:solidFill>
              </a:defRPr>
            </a:pPr>
            <a:r>
              <a:t>   Automatically reopens cases and increases priority if post-repair photo inspection fails.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★ Fiscal Ward Transparency</a:t>
            </a:r>
          </a:p>
          <a:p>
            <a:pPr>
              <a:defRPr sz="1000">
                <a:solidFill>
                  <a:srgbClr val="B4BED2"/>
                </a:solidFill>
              </a:defRPr>
            </a:pPr>
            <a:r>
              <a:t>   Public dashboard tracks municipal budget, fund releases, and contractor performance scores.</a:t>
            </a:r>
          </a:p>
          <a:p>
            <a:pPr>
              <a:defRPr sz="1100" b="1">
                <a:solidFill>
                  <a:srgbClr val="F59E0B"/>
                </a:solidFill>
              </a:defRPr>
            </a:pPr>
            <a:r>
              <a:t>★ Community Participation</a:t>
            </a:r>
          </a:p>
          <a:p>
            <a:pPr>
              <a:defRPr sz="1000">
                <a:solidFill>
                  <a:srgbClr val="B4BED2"/>
                </a:solidFill>
              </a:defRPr>
            </a:pPr>
            <a:r>
              <a:t>   Citizens vote on ward improvement proposals and earn redeemable civic reward points.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777240"/>
            <a:ext cx="1188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41826"/>
                </a:solidFill>
                <a:latin typeface="Impact"/>
              </a:defRPr>
            </a:pPr>
            <a:r>
              <a:t>APEX</a:t>
            </a:r>
          </a:p>
          <a:p>
            <a:pPr algn="ctr">
              <a:defRPr sz="1100" b="1">
                <a:solidFill>
                  <a:srgbClr val="141826"/>
                </a:solidFill>
                <a:latin typeface="Impact"/>
              </a:defRPr>
            </a:pPr>
            <a:r>
              <a:t>CODERS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45920" y="1783080"/>
            <a:ext cx="7863840" cy="182880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874519"/>
            <a:ext cx="74980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B82F6"/>
                </a:solidFill>
                <a:latin typeface="Segoe UI"/>
              </a:defRPr>
            </a:pPr>
            <a:r>
              <a:t>LIVE DEPLOYMENT CHANNELS &amp; REPOSITORY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• GitHub Repository: </a:t>
            </a:r>
            <a:r>
              <a:rPr b="0">
                <a:solidFill>
                  <a:srgbClr val="FFFFFF"/>
                </a:solidFill>
              </a:rPr>
              <a:t>https://github.com/aryanTmall/Apex-Coderss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• Live Web Application (Vercel): </a:t>
            </a:r>
            <a:r>
              <a:rPr b="0">
                <a:solidFill>
                  <a:srgbClr val="14B8A6"/>
                </a:solidFill>
              </a:rPr>
              <a:t>Configured SPA with full offline resilience &amp; route rewrites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• Backend Web Service (Render): </a:t>
            </a:r>
            <a:r>
              <a:rPr b="0">
                <a:solidFill>
                  <a:srgbClr val="F59E0B"/>
                </a:solidFill>
              </a:rPr>
              <a:t>FastAPI Python backend with automated CI/CD blueprint (render.yaml)</a:t>
            </a:r>
          </a:p>
          <a:p>
            <a:pPr>
              <a:defRPr sz="1050" b="1">
                <a:solidFill>
                  <a:srgbClr val="FFFFFF"/>
                </a:solidFill>
              </a:defRPr>
            </a:pPr>
            <a:r>
              <a:t>• Automated Test Suite: </a:t>
            </a:r>
            <a:r>
              <a:rPr b="0">
                <a:solidFill>
                  <a:srgbClr val="FFFFFF"/>
                </a:solidFill>
              </a:rPr>
              <a:t>69 / 69 passing Pytest suites (tests/test_master_upgrade.py)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3794760"/>
            <a:ext cx="7863840" cy="237744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886200"/>
            <a:ext cx="749807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Segoe UI"/>
              </a:defRPr>
            </a:pPr>
            <a:r>
              <a:t>EVALUATOR 1-CLICK TEST CREDENTIALS (PRE-SEEDED &amp; PRE-FILLED)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🔑 Administrator (Full Ops): </a:t>
            </a:r>
            <a:r>
              <a:rPr>
                <a:solidFill>
                  <a:srgbClr val="B4BED2"/>
                </a:solidFill>
              </a:rPr>
              <a:t>admin@civichelp.gov.in  |  Password: </a:t>
            </a:r>
            <a:r>
              <a:rPr b="1">
                <a:solidFill>
                  <a:srgbClr val="F59E0B"/>
                </a:solidFill>
              </a:rPr>
              <a:t>CivicHelp@Admin2026!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🔑 Verification Reviewer (Visual QA): </a:t>
            </a:r>
            <a:r>
              <a:rPr>
                <a:solidFill>
                  <a:srgbClr val="B4BED2"/>
                </a:solidFill>
              </a:rPr>
              <a:t>reviewer@civichelp.gov.in  |  Password: </a:t>
            </a:r>
            <a:r>
              <a:rPr b="1">
                <a:solidFill>
                  <a:srgbClr val="F59E0B"/>
                </a:solidFill>
              </a:rPr>
              <a:t>CivicHelp@Review2026!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🔑 PWD Operator (Roads &amp; Dispatch): </a:t>
            </a:r>
            <a:r>
              <a:rPr>
                <a:solidFill>
                  <a:srgbClr val="B4BED2"/>
                </a:solidFill>
              </a:rPr>
              <a:t>pwd.operator@civichelp.gov.in  |  Password: </a:t>
            </a:r>
            <a:r>
              <a:rPr b="1">
                <a:solidFill>
                  <a:srgbClr val="F59E0B"/>
                </a:solidFill>
              </a:rPr>
              <a:t>CivicHelp@Pwd2026!</a:t>
            </a:r>
          </a:p>
          <a:p>
            <a:pPr>
              <a:defRPr sz="1000" b="1">
                <a:solidFill>
                  <a:srgbClr val="FFFFFF"/>
                </a:solidFill>
              </a:defRPr>
            </a:pPr>
            <a:r>
              <a:t>🔑 Whistleblower Ombudsman (Anti-Corruption): </a:t>
            </a:r>
            <a:r>
              <a:rPr>
                <a:solidFill>
                  <a:srgbClr val="B4BED2"/>
                </a:solidFill>
              </a:rPr>
              <a:t>auditor@civichelp.gov.in  |  Password: </a:t>
            </a:r>
            <a:r>
              <a:rPr b="1">
                <a:solidFill>
                  <a:srgbClr val="F59E0B"/>
                </a:solidFill>
              </a:rPr>
              <a:t>CivicHelp@Auditor2026!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777240"/>
            <a:ext cx="1188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300" b="1">
                <a:solidFill>
                  <a:srgbClr val="141826"/>
                </a:solidFill>
                <a:latin typeface="Impact"/>
              </a:defRPr>
            </a:pPr>
            <a:r>
              <a:t>APEX</a:t>
            </a:r>
          </a:p>
          <a:p>
            <a:pPr algn="ctr">
              <a:defRPr sz="1100" b="1">
                <a:solidFill>
                  <a:srgbClr val="141826"/>
                </a:solidFill>
                <a:latin typeface="Impact"/>
              </a:defRPr>
            </a:pPr>
            <a:r>
              <a:t>CODERS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777240"/>
            <a:ext cx="8412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  <a:latin typeface="Impact"/>
              </a:defRPr>
            </a:pPr>
            <a:r>
              <a:t>AUTONOMOUS RESOLUTION MESH &amp; INNOVATIONS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691640"/>
            <a:ext cx="8595360" cy="1188720"/>
          </a:xfrm>
          <a:prstGeom prst="roundRect">
            <a:avLst/>
          </a:prstGeom>
          <a:solidFill>
            <a:srgbClr val="182036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178308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  <a:latin typeface="Segoe UI"/>
              </a:defRPr>
            </a:pPr>
            <a:r>
              <a:t>END-TO-END AUTONOMOUS RESOLUTION PIPELINE: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① Citizen Intake (Precise GPS / Unconfirmed)  ──▶  ② Gemini AI Triage &amp; SLA  ──▶  ③ Dept Dispatch &amp; Contractor WO  ──▶  ④ Photo Geofence QA Check  ──▶  ⑤ Immutable SHA-256 Closure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3063240"/>
            <a:ext cx="4206240" cy="150876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3172968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EF4444"/>
                </a:solidFill>
                <a:latin typeface="Segoe UI"/>
              </a:defRPr>
            </a:pPr>
            <a:r>
              <a:t>Autonomous Failure Recovery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If post-repair evidence fails geofence check (deviation &gt; 50m) or duplicate detection, CivicHelp autonomously reopens the case and escalates priority.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3063240"/>
            <a:ext cx="4206240" cy="150876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9480" y="3172968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59E0B"/>
                </a:solidFill>
                <a:latin typeface="Segoe UI"/>
              </a:defRPr>
            </a:pPr>
            <a:r>
              <a:t>Live 112 Emergency ETA (OSRM)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Calculates true turn-by-turn road driving distance and estimated arrival time to verified police, fire, &amp; trauma stations; never invents false ETAs.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4709160"/>
            <a:ext cx="4206240" cy="150876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4818888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B82F6"/>
                </a:solidFill>
                <a:latin typeface="Segoe UI"/>
              </a:defRPr>
            </a:pPr>
            <a:r>
              <a:t>Public Intelligence &amp; News Feed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Grounded AI civic summaries categorize news into Around Me, City, State, National, and Global, directly linking articles to active map incidents.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709160"/>
            <a:ext cx="4206240" cy="1508760"/>
          </a:xfrm>
          <a:prstGeom prst="roundRect">
            <a:avLst/>
          </a:prstGeom>
          <a:solidFill>
            <a:srgbClr val="101626"/>
          </a:solidFill>
          <a:ln w="1524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4818888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4B8A6"/>
                </a:solidFill>
                <a:latin typeface="Segoe UI"/>
              </a:defRPr>
            </a:pPr>
            <a:r>
              <a:t>Municipal Funds &amp; Voting Vault</a:t>
            </a:r>
          </a:p>
          <a:p>
            <a:pPr>
              <a:defRPr sz="1000">
                <a:solidFill>
                  <a:srgbClr val="B4BED2"/>
                </a:solidFill>
                <a:latin typeface="Segoe UI"/>
              </a:defRPr>
            </a:pPr>
            <a:r>
              <a:t>Public ward-wise municipal fund ledger with contractor scorecards, plus participatory budgeting polls and tamper-evident whistleblower reporting.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26080" y="420624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CivicHelp — From Citizen Reports to Verified Outcomes</a:t>
            </a:r>
          </a:p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Team: Apex Coders  |  Sushant University</a:t>
            </a:r>
          </a:p>
          <a:p>
            <a:pPr algn="ctr">
              <a:defRPr sz="1200">
                <a:solidFill>
                  <a:srgbClr val="B4BED2"/>
                </a:solidFill>
                <a:latin typeface="Segoe UI"/>
              </a:defRPr>
            </a:pPr>
            <a:r>
              <a:t>Team Leader: Aryan Mall  |  Members: Aditya, Bhavy Nanda, Ashish Kumar</a:t>
            </a:r>
          </a:p>
          <a:p>
            <a:pPr algn="ctr">
              <a:defRPr sz="1200" b="1">
                <a:solidFill>
                  <a:srgbClr val="14B8A6"/>
                </a:solidFill>
                <a:latin typeface="Segoe UI"/>
              </a:defRPr>
            </a:pPr>
            <a:r>
              <a:t>GitHub: github.com/aryanTmall/Apex-Coderss  •  Open for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